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81" r:id="rId5"/>
    <p:sldId id="284" r:id="rId6"/>
    <p:sldId id="294" r:id="rId7"/>
    <p:sldId id="295" r:id="rId8"/>
    <p:sldId id="296" r:id="rId9"/>
    <p:sldId id="297" r:id="rId10"/>
    <p:sldId id="298" r:id="rId11"/>
    <p:sldId id="299" r:id="rId12"/>
    <p:sldId id="300" r:id="rId13"/>
    <p:sldId id="301" r:id="rId14"/>
    <p:sldId id="302" r:id="rId15"/>
    <p:sldId id="303" r:id="rId16"/>
    <p:sldId id="261" r:id="rId17"/>
    <p:sldId id="28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6" autoAdjust="0"/>
    <p:restoredTop sz="94879" autoAdjust="0"/>
  </p:normalViewPr>
  <p:slideViewPr>
    <p:cSldViewPr snapToGrid="0">
      <p:cViewPr varScale="1">
        <p:scale>
          <a:sx n="103" d="100"/>
          <a:sy n="103" d="100"/>
        </p:scale>
        <p:origin x="162" y="108"/>
      </p:cViewPr>
      <p:guideLst/>
    </p:cSldViewPr>
  </p:slideViewPr>
  <p:outlineViewPr>
    <p:cViewPr>
      <p:scale>
        <a:sx n="33" d="100"/>
        <a:sy n="33" d="100"/>
      </p:scale>
      <p:origin x="0" y="-403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976AB79-C677-3DB7-78CF-9305D58614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AB137-CEA6-0244-F12B-1ECC21172D0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C994AA-C437-4EF4-8BEF-0B832D7FA420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68EC96-C6CC-F2AF-D90F-143F4D20A07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F8EC8D-EF88-0275-F75C-A789924433B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757874-EF65-4B61-B062-40C932C812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02786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4FE048-FAD0-D943-9A17-3C4CB7633182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247812-3409-784D-BAE7-ABE53735D5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0300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23A35-1FA6-84F9-C9C9-8EFD760A5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7CDB01-A300-500A-E9FF-5021D5B216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B90371-6E13-9BA6-3274-E7DFC0AA83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DD689E-823E-FB48-22C9-BEE63C553E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2940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8825E-1FE8-81EE-BF6F-665C5C10F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5E0E60-DD3C-C883-F595-6C6AD4737E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6C28B5-443F-89DF-6542-19B4B09A44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C9E535-ACD3-B0A6-4A00-8B7EB36332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6639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8EF53-9921-D202-BCF8-36BB6A4B0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825C3C-9264-0F1A-4D5F-725D0337CC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3E003A-074A-11ED-AAF9-F0762F1C77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A80C1E-122E-3678-3A36-E277E3201C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7488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08317-A0E8-F7A7-A583-AACCDE99C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726A3C-9616-2276-AAE7-ED54E61798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8C65F2-A099-05F6-74B6-C5A7902046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FB068C-D429-3039-425A-132ED28254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9512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DA6D2-5613-21D8-1881-3C65701673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2CF3D1-0A1D-1F7C-66CE-2ED2D73EA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3F8D6F-C089-68AA-FAF9-86EF1CE540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7231C3-4DCF-12CE-ADBA-6987B51D27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1778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B8D91B-1228-9D40-7E3C-D69CA7007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746A99-C736-B3DE-0ED6-DE5E39C59A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09EB24E-ABA7-FBF4-7657-884E2BE640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159DDC-7817-AA70-A20A-3A042D85BF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8232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1DFC2-D6A9-2984-7382-08750C0F1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4B2754-FDE6-F019-6B8D-FE199BB989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D3668B-0BAF-CAED-38E0-880A5DE577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16BC4C-7E97-ED26-ACC1-CB7EF32F01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527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71A1F-B2C2-8F0C-8685-B5222ECBA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EBE36B-2DE2-48E8-687E-8D38DB24E6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B67924-8761-26F7-031F-417092FF44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BB23BA-46EC-F5FB-C120-B754F23344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9804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87B90A-83CD-E055-B363-63BB7C4FA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3EF28D-B364-8C56-DFAD-BC4F70EECA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B679A0-6A4F-A58D-7AB6-1BC8CCCF6B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390123-23AA-F92A-871E-268ABB89E6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9841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1865DE-2E77-81F7-DEF7-A65FD4CF8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D036F4-A29F-BEB3-E08F-262155E519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30E9B5-4262-F1BA-2360-B6BEB52B96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629999-6074-DD4F-21E0-C2698AE4D2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7414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240F16-59C0-D3DF-AF41-EF9D97547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25C479-8941-AEA2-5D2C-FA44D10781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692331-F3B1-DC5B-2BD4-5EEEF5ECF7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39148A-2FF2-0145-80E0-259DE4D97C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567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247812-3409-784D-BAE7-ABE53735D59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339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A7F58C7-D277-8F14-F024-4B41D20D054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E8C189B-2E00-67DA-E342-3440F5EBB4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2286000"/>
            <a:ext cx="9144000" cy="2286000"/>
          </a:xfrm>
        </p:spPr>
        <p:txBody>
          <a:bodyPr anchor="ctr" anchorCtr="0">
            <a:noAutofit/>
          </a:bodyPr>
          <a:lstStyle>
            <a:lvl1pPr algn="ct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424675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2816" y="457200"/>
            <a:ext cx="4837176" cy="1993392"/>
          </a:xfrm>
        </p:spPr>
        <p:txBody>
          <a:bodyPr anchor="b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B8CBAD6-FC79-B2BB-0B67-26429A6D4C8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8882" y="0"/>
            <a:ext cx="6115050" cy="6858000"/>
          </a:xfrm>
          <a:prstGeom prst="parallelogram">
            <a:avLst/>
          </a:prstGeom>
          <a:ln>
            <a:noFill/>
          </a:ln>
        </p:spPr>
        <p:txBody>
          <a:bodyPr tIns="0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562818" y="2752344"/>
            <a:ext cx="4837174" cy="3136392"/>
          </a:xfrm>
        </p:spPr>
        <p:txBody>
          <a:bodyPr anchor="t" anchorCtr="0"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1pPr>
            <a:lvl2pPr marL="4572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2pPr>
            <a:lvl3pPr marL="9144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3pPr>
            <a:lvl4pPr marL="13716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4pPr>
            <a:lvl5pPr marL="1828800" indent="0">
              <a:lnSpc>
                <a:spcPct val="150000"/>
              </a:lnSpc>
              <a:spcBef>
                <a:spcPts val="1000"/>
              </a:spcBef>
              <a:buNone/>
              <a:defRPr sz="1800" cap="all" spc="300" baseline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34796A3-781D-5244-DAB8-2D6EE0AC3B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562817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43880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17600" y="762000"/>
            <a:ext cx="5066250" cy="2900680"/>
          </a:xfrm>
        </p:spPr>
        <p:txBody>
          <a:bodyPr anchor="b">
            <a:no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2836803-D9E6-3DF1-3B90-1E7E677CC7B7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 flipH="1">
            <a:off x="6086167" y="-22225"/>
            <a:ext cx="6080760" cy="6902450"/>
          </a:xfrm>
          <a:prstGeom prst="parallelogram">
            <a:avLst/>
          </a:prstGeom>
          <a:ln>
            <a:noFill/>
          </a:ln>
        </p:spPr>
        <p:txBody>
          <a:bodyPr lIns="0" tIns="0">
            <a:normAutofit/>
          </a:bodyPr>
          <a:lstStyle>
            <a:lvl1pPr marL="0" indent="0" algn="l">
              <a:buNone/>
              <a:defRPr sz="2000"/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17600" y="4145280"/>
            <a:ext cx="5066250" cy="6908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200000" scaled="0"/>
            <a:tileRect/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2400" cap="all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924186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42425" y="466344"/>
            <a:ext cx="6241651" cy="1710354"/>
          </a:xfrm>
        </p:spPr>
        <p:txBody>
          <a:bodyPr bIns="0" anchor="ctr" anchorCtr="0">
            <a:no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511A5385-FB23-93A8-2B8F-9887244244D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4287838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710C-A212-1B12-06CD-FA2A14F89D6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242426" y="2286000"/>
            <a:ext cx="6241650" cy="3474720"/>
          </a:xfrm>
        </p:spPr>
        <p:txBody>
          <a:bodyPr>
            <a:normAutofit/>
          </a:bodyPr>
          <a:lstStyle>
            <a:lvl1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1pPr>
            <a:lvl2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2pPr>
            <a:lvl3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3pPr>
            <a:lvl4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4pPr>
            <a:lvl5pPr marL="2286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0E25A87-9155-9E07-878F-CEC0B137C2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91586" y="6303963"/>
            <a:ext cx="4287186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7894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72C41-A024-2F33-1F04-21E003FA729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1143000"/>
            <a:ext cx="9144000" cy="2286000"/>
          </a:xfrm>
        </p:spPr>
        <p:txBody>
          <a:bodyPr anchor="b">
            <a:noAutofit/>
          </a:bodyPr>
          <a:lstStyle>
            <a:lvl1pPr algn="ctr"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3BC2DF-9C2A-052C-AD2C-0A8ABAA5037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835198"/>
            <a:ext cx="9144000" cy="683219"/>
          </a:xfrm>
          <a:gradFill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</a:gradFill>
        </p:spPr>
        <p:txBody>
          <a:bodyPr anchor="ctr">
            <a:normAutofit/>
          </a:bodyPr>
          <a:lstStyle>
            <a:lvl1pPr marL="0" indent="0" algn="ctr">
              <a:buNone/>
              <a:defRPr sz="2400" cap="all" spc="3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563727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9577E27-B60E-C6DD-BAAF-5CCC3D59E5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880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964CA031-27E0-D0AA-1451-A904CCF234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199" y="2024781"/>
            <a:ext cx="5212079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81FE0D7D-86B7-CCD2-A7A1-70E95846B54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59795" y="2024780"/>
            <a:ext cx="4894006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290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880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D2DE411-9D7C-15AE-0B59-F26B2BF8C52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38200" y="2024781"/>
            <a:ext cx="2878394" cy="4137189"/>
          </a:xfrm>
        </p:spPr>
        <p:txBody>
          <a:bodyPr>
            <a:normAutofit/>
          </a:bodyPr>
          <a:lstStyle>
            <a:lvl1pPr marL="3429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rabicPeriod"/>
              <a:defRPr sz="1800">
                <a:latin typeface="+mn-lt"/>
              </a:defRPr>
            </a:lvl1pPr>
            <a:lvl2pPr marL="8001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lphaLcPeriod"/>
              <a:defRPr sz="1800">
                <a:latin typeface="+mn-lt"/>
              </a:defRPr>
            </a:lvl2pPr>
            <a:lvl3pPr marL="12573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rabicParenR"/>
              <a:defRPr sz="1800">
                <a:latin typeface="+mn-lt"/>
              </a:defRPr>
            </a:lvl3pPr>
            <a:lvl4pPr marL="1714500" indent="-3429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+mj-lt"/>
              <a:buAutoNum type="alphaLcParenR"/>
              <a:defRPr sz="1800">
                <a:latin typeface="+mn-lt"/>
              </a:defRPr>
            </a:lvl4pPr>
            <a:lvl5pPr marL="2057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60FEDE7C-502F-ECFE-4136-E99206849C2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459795" y="2024780"/>
            <a:ext cx="4894006" cy="4137189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852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48056"/>
            <a:ext cx="6172200" cy="1581912"/>
          </a:xfrm>
        </p:spPr>
        <p:txBody>
          <a:bodyPr anchor="b" anchorCtr="0">
            <a:no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5F30E2A0-23EF-51B1-8ABD-00429EEA064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38200" y="2257063"/>
            <a:ext cx="4894006" cy="3904906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AF15552F-C66B-341F-2D37-0389710BA5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500938" y="-22225"/>
            <a:ext cx="4714875" cy="6880225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8DCC6D-8B88-7BE0-7240-F743AE09EC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93814" y="6303963"/>
            <a:ext cx="4287186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5438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563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10">
            <a:extLst>
              <a:ext uri="{FF2B5EF4-FFF2-40B4-BE49-F238E27FC236}">
                <a16:creationId xmlns:a16="http://schemas.microsoft.com/office/drawing/2014/main" id="{9C3ED3BF-FF6B-07FA-72C4-F6102A8558A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96074" y="2106591"/>
            <a:ext cx="2067045" cy="3633787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6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4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2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3483980" y="2106591"/>
            <a:ext cx="7869820" cy="4016713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150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760"/>
            <a:ext cx="10515600" cy="1325563"/>
          </a:xfrm>
        </p:spPr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A524C1E0-92FE-D7D2-83A7-46D29A838874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38200" y="1790329"/>
            <a:ext cx="5134335" cy="411305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27E0367-8E38-8905-DC9A-D0C376A591A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219464" y="1790329"/>
            <a:ext cx="5134335" cy="4113054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accent2"/>
              </a:buClr>
              <a:buFont typeface="Wingdings" panose="05000000000000000000" pitchFamily="2" charset="2"/>
              <a:buNone/>
              <a:defRPr sz="1800">
                <a:latin typeface="+mn-lt"/>
              </a:defRPr>
            </a:lvl1pPr>
            <a:lvl2pPr marL="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2pPr>
            <a:lvl3pPr marL="4572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3pPr>
            <a:lvl4pPr marL="6858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4pPr>
            <a:lvl5pPr marL="914400" indent="-228600">
              <a:spcBef>
                <a:spcPts val="1000"/>
              </a:spcBef>
              <a:spcAft>
                <a:spcPts val="100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1800">
                <a:latin typeface="+mn-lt"/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3D847DE-29F2-8ABB-1718-34BED4F37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03963"/>
            <a:ext cx="1219200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03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ctr" anchorCtr="0">
            <a:noAutofit/>
          </a:bodyPr>
          <a:lstStyle>
            <a:lvl1pPr algn="ctr"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0CEAFE70-86D3-8690-31CA-F9A1FBA494D0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13186" y="2107800"/>
            <a:ext cx="10965628" cy="3920196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061D-18C3-4F4F-85EF-561633F5875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0992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6EE6F3F-63EB-5C0E-2307-3B7CBBA1C37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437" y="400485"/>
            <a:ext cx="9467127" cy="2527911"/>
          </a:xfrm>
        </p:spPr>
        <p:txBody>
          <a:bodyPr anchor="b">
            <a:noAutofit/>
          </a:bodyPr>
          <a:lstStyle>
            <a:lvl1pPr algn="ctr">
              <a:spcBef>
                <a:spcPts val="1000"/>
              </a:spcBef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12DA517-30B0-BC62-0422-F995FB9189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62075" y="3738622"/>
            <a:ext cx="9467850" cy="2527911"/>
          </a:xfrm>
        </p:spPr>
        <p:txBody>
          <a:bodyPr>
            <a:normAutofit/>
          </a:bodyPr>
          <a:lstStyle>
            <a:lvl1pPr marL="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 algn="ctr"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1629670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D97564-C310-6E8C-8689-CE18881B4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D99FA-26D9-873B-BE7F-26FEC5C23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19819E-0266-97DD-DFD1-BAAA06AE32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D8061D-18C3-4F4F-85EF-561633F5875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D19C9-01CE-9E2A-CDA5-C15940F05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801085-7B28-048D-E3D3-9C3614268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D12358-51D2-46B3-9BDE-DF29528B94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934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60" r:id="rId2"/>
    <p:sldLayoutId id="2147483659" r:id="rId3"/>
    <p:sldLayoutId id="2147483650" r:id="rId4"/>
    <p:sldLayoutId id="2147483649" r:id="rId5"/>
    <p:sldLayoutId id="2147483662" r:id="rId6"/>
    <p:sldLayoutId id="2147483663" r:id="rId7"/>
    <p:sldLayoutId id="2147483652" r:id="rId8"/>
    <p:sldLayoutId id="2147483666" r:id="rId9"/>
    <p:sldLayoutId id="2147483664" r:id="rId10"/>
    <p:sldLayoutId id="2147483665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cap="all" spc="3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microsoft.com/office/2007/relationships/hdphoto" Target="../media/hdphoto2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microsoft.com/office/2007/relationships/hdphoto" Target="../media/hdphoto2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microsoft.com/office/2007/relationships/hdphoto" Target="../media/hdphoto2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1.png"/><Relationship Id="rId4" Type="http://schemas.microsoft.com/office/2007/relationships/hdphoto" Target="../media/hdphoto2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microsoft.com/office/2007/relationships/hdphoto" Target="../media/hdphoto2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microsoft.com/office/2007/relationships/hdphoto" Target="../media/hdphoto2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microsoft.com/office/2007/relationships/hdphoto" Target="../media/hdphoto3.wdp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7" descr="abstract image">
            <a:extLst>
              <a:ext uri="{FF2B5EF4-FFF2-40B4-BE49-F238E27FC236}">
                <a16:creationId xmlns:a16="http://schemas.microsoft.com/office/drawing/2014/main" id="{782ED2F6-AFB3-9199-3999-2B5E4BAF242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>
            <a:alphaModFix amt="52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F20A922B-22EC-7FD8-FA8C-2FFAC558BD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86000"/>
            <a:ext cx="9144000" cy="2286000"/>
          </a:xfrm>
        </p:spPr>
        <p:txBody>
          <a:bodyPr/>
          <a:lstStyle/>
          <a:p>
            <a:r>
              <a:rPr lang="en-US" dirty="0"/>
              <a:t>Machine learning on MNIST dataset</a:t>
            </a:r>
          </a:p>
        </p:txBody>
      </p:sp>
    </p:spTree>
    <p:extLst>
      <p:ext uri="{BB962C8B-B14F-4D97-AF65-F5344CB8AC3E}">
        <p14:creationId xmlns:p14="http://schemas.microsoft.com/office/powerpoint/2010/main" val="639264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75C36-617B-795C-5A2B-325EA34F1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AD706-11EF-C258-EBD5-C4EEFEAAC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2816" y="457200"/>
            <a:ext cx="4837176" cy="1993392"/>
          </a:xfrm>
          <a:noFill/>
        </p:spPr>
        <p:txBody>
          <a:bodyPr anchor="b">
            <a:noAutofit/>
          </a:bodyPr>
          <a:lstStyle/>
          <a:p>
            <a:r>
              <a:rPr lang="en-US" dirty="0"/>
              <a:t>AGENDA</a:t>
            </a:r>
          </a:p>
        </p:txBody>
      </p:sp>
      <p:pic>
        <p:nvPicPr>
          <p:cNvPr id="15" name="Picture Placeholder 14" descr="A group of people sitting around a table">
            <a:extLst>
              <a:ext uri="{FF2B5EF4-FFF2-40B4-BE49-F238E27FC236}">
                <a16:creationId xmlns:a16="http://schemas.microsoft.com/office/drawing/2014/main" id="{E4DF753A-3575-A0D9-5135-8A94308DC03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" r="2"/>
          <a:stretch/>
        </p:blipFill>
        <p:spPr>
          <a:xfrm>
            <a:off x="-28882" y="0"/>
            <a:ext cx="6115050" cy="6858000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EC4A8-49EE-CF82-CFDC-BA9308ED0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62818" y="2752344"/>
            <a:ext cx="4837174" cy="3136392"/>
          </a:xfrm>
          <a:noFill/>
        </p:spPr>
        <p:txBody>
          <a:bodyPr anchor="t">
            <a:normAutofit lnSpcReduction="10000"/>
          </a:bodyPr>
          <a:lstStyle/>
          <a:p>
            <a:r>
              <a:rPr lang="en-US" dirty="0"/>
              <a:t>The goal</a:t>
            </a:r>
          </a:p>
          <a:p>
            <a:r>
              <a:rPr lang="en-US" dirty="0"/>
              <a:t>MNIST Dataset</a:t>
            </a:r>
          </a:p>
          <a:p>
            <a:r>
              <a:rPr lang="en-US" dirty="0"/>
              <a:t>Exploratory data analysis (Eda)</a:t>
            </a:r>
          </a:p>
          <a:p>
            <a:r>
              <a:rPr lang="en-US" dirty="0" err="1"/>
              <a:t>Ml</a:t>
            </a:r>
            <a:r>
              <a:rPr lang="en-US" dirty="0"/>
              <a:t> models</a:t>
            </a:r>
          </a:p>
          <a:p>
            <a:r>
              <a:rPr lang="en-US" dirty="0" err="1"/>
              <a:t>Streamlit</a:t>
            </a:r>
            <a:r>
              <a:rPr lang="en-US" dirty="0"/>
              <a:t> app</a:t>
            </a:r>
          </a:p>
          <a:p>
            <a:r>
              <a:rPr lang="en-US" dirty="0"/>
              <a:t>conclusions</a:t>
            </a:r>
          </a:p>
        </p:txBody>
      </p:sp>
    </p:spTree>
    <p:extLst>
      <p:ext uri="{BB962C8B-B14F-4D97-AF65-F5344CB8AC3E}">
        <p14:creationId xmlns:p14="http://schemas.microsoft.com/office/powerpoint/2010/main" val="16720179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E8DA90-912D-BAD9-ADE8-F558366C3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ED504-33DF-B842-AA60-A312737AD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48056"/>
            <a:ext cx="6172200" cy="1581912"/>
          </a:xfrm>
          <a:noFill/>
        </p:spPr>
        <p:txBody>
          <a:bodyPr anchor="b"/>
          <a:lstStyle/>
          <a:p>
            <a:r>
              <a:rPr lang="en-US" dirty="0"/>
              <a:t>The goal</a:t>
            </a:r>
          </a:p>
        </p:txBody>
      </p:sp>
      <p:pic>
        <p:nvPicPr>
          <p:cNvPr id="15" name="Picture Placeholder 5" descr="A person looking at blueprints on a brick wall">
            <a:extLst>
              <a:ext uri="{FF2B5EF4-FFF2-40B4-BE49-F238E27FC236}">
                <a16:creationId xmlns:a16="http://schemas.microsoft.com/office/drawing/2014/main" id="{0ED37DF2-F6A0-F79F-0ACD-99F40B18BF1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7157" r="27157"/>
          <a:stretch/>
        </p:blipFill>
        <p:spPr>
          <a:xfrm>
            <a:off x="7500938" y="-22225"/>
            <a:ext cx="4714875" cy="6880225"/>
          </a:xfr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5A91ACA-C657-96E4-59E8-8D052636DC06}"/>
              </a:ext>
            </a:extLst>
          </p:cNvPr>
          <p:cNvSpPr txBox="1">
            <a:spLocks/>
          </p:cNvSpPr>
          <p:nvPr/>
        </p:nvSpPr>
        <p:spPr>
          <a:xfrm>
            <a:off x="838201" y="2174033"/>
            <a:ext cx="6241650" cy="3474720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Create at least tree models</a:t>
            </a:r>
          </a:p>
          <a:p>
            <a:r>
              <a:rPr lang="en-US" sz="2000" dirty="0"/>
              <a:t>Compare which model is best</a:t>
            </a:r>
          </a:p>
          <a:p>
            <a:r>
              <a:rPr lang="en-US" sz="2000" dirty="0"/>
              <a:t>Create an app that lets user write numbers. The model will then predict the written number</a:t>
            </a:r>
          </a:p>
          <a:p>
            <a:r>
              <a:rPr lang="en-US" sz="2000" dirty="0"/>
              <a:t>Present the finding and solution for the class</a:t>
            </a:r>
          </a:p>
        </p:txBody>
      </p:sp>
    </p:spTree>
    <p:extLst>
      <p:ext uri="{BB962C8B-B14F-4D97-AF65-F5344CB8AC3E}">
        <p14:creationId xmlns:p14="http://schemas.microsoft.com/office/powerpoint/2010/main" val="3289362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29E9C-DD6F-4302-683F-F2609BE09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E4B104-DCBE-C18B-8F75-617B84D42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48056"/>
            <a:ext cx="6172200" cy="1581912"/>
          </a:xfrm>
          <a:noFill/>
        </p:spPr>
        <p:txBody>
          <a:bodyPr anchor="b"/>
          <a:lstStyle/>
          <a:p>
            <a:r>
              <a:rPr lang="en-US" dirty="0" err="1"/>
              <a:t>mnist</a:t>
            </a:r>
            <a:r>
              <a:rPr lang="en-US" dirty="0"/>
              <a:t> dataset</a:t>
            </a:r>
          </a:p>
        </p:txBody>
      </p:sp>
      <p:pic>
        <p:nvPicPr>
          <p:cNvPr id="15" name="Picture Placeholder 5" descr="A person looking at blueprints on a brick wall">
            <a:extLst>
              <a:ext uri="{FF2B5EF4-FFF2-40B4-BE49-F238E27FC236}">
                <a16:creationId xmlns:a16="http://schemas.microsoft.com/office/drawing/2014/main" id="{0E922E0C-78C8-345B-12EF-6B31858A78C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7157" r="27157"/>
          <a:stretch/>
        </p:blipFill>
        <p:spPr>
          <a:xfrm>
            <a:off x="7500938" y="-22225"/>
            <a:ext cx="4714875" cy="6880225"/>
          </a:xfr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09DA79-9C33-7C07-7CCE-5B321DA81388}"/>
              </a:ext>
            </a:extLst>
          </p:cNvPr>
          <p:cNvSpPr txBox="1">
            <a:spLocks/>
          </p:cNvSpPr>
          <p:nvPr/>
        </p:nvSpPr>
        <p:spPr>
          <a:xfrm>
            <a:off x="838201" y="2174033"/>
            <a:ext cx="6241650" cy="3474720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Modified National Institute of Standards and Technology</a:t>
            </a:r>
          </a:p>
          <a:p>
            <a:r>
              <a:rPr lang="en-US" sz="2000" dirty="0"/>
              <a:t>70.000 handwritten numbers from 0 to 9</a:t>
            </a:r>
          </a:p>
          <a:p>
            <a:r>
              <a:rPr lang="en-US" sz="2000" dirty="0"/>
              <a:t>Grayscale images</a:t>
            </a:r>
          </a:p>
          <a:p>
            <a:r>
              <a:rPr lang="en-US" sz="2000" dirty="0"/>
              <a:t>Each picture is 28x28 pixels (784 total pixels)</a:t>
            </a:r>
          </a:p>
          <a:p>
            <a:r>
              <a:rPr lang="en-US" sz="2000" dirty="0"/>
              <a:t>Each picture is labeled</a:t>
            </a:r>
          </a:p>
          <a:p>
            <a:r>
              <a:rPr lang="en-US" sz="2000" dirty="0"/>
              <a:t>Commonly used for classification models</a:t>
            </a:r>
          </a:p>
        </p:txBody>
      </p:sp>
    </p:spTree>
    <p:extLst>
      <p:ext uri="{BB962C8B-B14F-4D97-AF65-F5344CB8AC3E}">
        <p14:creationId xmlns:p14="http://schemas.microsoft.com/office/powerpoint/2010/main" val="4848975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266CF-57A2-557C-516A-EFD8A0645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B5484-F951-12A0-F7E9-74D2F7E06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48056"/>
            <a:ext cx="6172200" cy="761191"/>
          </a:xfrm>
          <a:noFill/>
        </p:spPr>
        <p:txBody>
          <a:bodyPr anchor="b"/>
          <a:lstStyle/>
          <a:p>
            <a:r>
              <a:rPr lang="en-US" dirty="0"/>
              <a:t>EDA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BB6B0AC-6C89-1998-0E7C-FB2FBCA1018D}"/>
              </a:ext>
            </a:extLst>
          </p:cNvPr>
          <p:cNvSpPr txBox="1">
            <a:spLocks/>
          </p:cNvSpPr>
          <p:nvPr/>
        </p:nvSpPr>
        <p:spPr>
          <a:xfrm>
            <a:off x="147736" y="1412842"/>
            <a:ext cx="5282680" cy="2534007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Dataset info/Classes/Null values/Data type</a:t>
            </a:r>
          </a:p>
          <a:p>
            <a:r>
              <a:rPr lang="en-US" sz="2000" dirty="0"/>
              <a:t>Class distribution</a:t>
            </a:r>
          </a:p>
          <a:p>
            <a:r>
              <a:rPr lang="en-US" sz="2000" dirty="0"/>
              <a:t>Samples</a:t>
            </a:r>
          </a:p>
          <a:p>
            <a:r>
              <a:rPr lang="en-US" sz="2000" dirty="0"/>
              <a:t>Pixel intensity distribution</a:t>
            </a:r>
          </a:p>
          <a:p>
            <a:r>
              <a:rPr lang="en-US" sz="2000" dirty="0"/>
              <a:t>Pixel statistics</a:t>
            </a:r>
          </a:p>
          <a:p>
            <a:r>
              <a:rPr lang="en-US" sz="2000" dirty="0"/>
              <a:t>Correlation heatmap</a:t>
            </a:r>
          </a:p>
        </p:txBody>
      </p:sp>
      <p:pic>
        <p:nvPicPr>
          <p:cNvPr id="8" name="Picture Placeholder 5" descr="A person looking at blueprints on a brick wall">
            <a:extLst>
              <a:ext uri="{FF2B5EF4-FFF2-40B4-BE49-F238E27FC236}">
                <a16:creationId xmlns:a16="http://schemas.microsoft.com/office/drawing/2014/main" id="{4923F5AB-7AE5-D85C-D3E5-E3579D08B6F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7157" r="27157"/>
          <a:stretch/>
        </p:blipFill>
        <p:spPr>
          <a:xfrm>
            <a:off x="7500938" y="-22225"/>
            <a:ext cx="4714875" cy="6880225"/>
          </a:xfrm>
        </p:spPr>
      </p:pic>
    </p:spTree>
    <p:extLst>
      <p:ext uri="{BB962C8B-B14F-4D97-AF65-F5344CB8AC3E}">
        <p14:creationId xmlns:p14="http://schemas.microsoft.com/office/powerpoint/2010/main" val="1929259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39C9B-E6E0-4B65-F2B7-E1DFCC5B6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3C530-BDE6-4280-EA1A-059F3458B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48056"/>
            <a:ext cx="6172200" cy="761191"/>
          </a:xfrm>
          <a:noFill/>
        </p:spPr>
        <p:txBody>
          <a:bodyPr anchor="b"/>
          <a:lstStyle/>
          <a:p>
            <a:r>
              <a:rPr lang="en-US" dirty="0"/>
              <a:t>EDA – some findings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D52ACF-63D3-7C18-6B47-9560079B69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633" y="1356049"/>
            <a:ext cx="2818194" cy="190298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9DC2B4F-66AD-1262-8246-D289D77EF9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9391" y="146657"/>
            <a:ext cx="4937541" cy="32823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6196E18-6008-C775-2796-5C886BE447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633" y="3259035"/>
            <a:ext cx="7322283" cy="3479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783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633D9-9F98-E570-E9AD-25B3CFFEF6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DD5A25-376E-6623-DB92-3CC6514D4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48056"/>
            <a:ext cx="6172200" cy="761191"/>
          </a:xfrm>
          <a:noFill/>
        </p:spPr>
        <p:txBody>
          <a:bodyPr anchor="b"/>
          <a:lstStyle/>
          <a:p>
            <a:r>
              <a:rPr lang="en-US" dirty="0"/>
              <a:t>EDA – some findings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3E3015-C449-B9F5-17FF-CB5FE77C72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409" y="1354529"/>
            <a:ext cx="4817930" cy="27068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CF24432-9A35-AF1A-DBEC-C1A96730EF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2533" y="2933205"/>
            <a:ext cx="6431076" cy="3055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2271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5E5DA-1D90-64D9-2E03-01A4D7C95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E2AA1-5DE1-59FD-0B80-85E874FCF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48056"/>
            <a:ext cx="6172200" cy="761191"/>
          </a:xfrm>
          <a:noFill/>
        </p:spPr>
        <p:txBody>
          <a:bodyPr anchor="b"/>
          <a:lstStyle/>
          <a:p>
            <a:r>
              <a:rPr lang="en-US" dirty="0"/>
              <a:t>EDA – some findings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118436-5797-533C-BC48-FFD42A1C08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8905" y="947690"/>
            <a:ext cx="5582948" cy="4962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31022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5819F-6EAF-98EC-57A7-CD8756150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3F610-0076-85D1-C95D-06385BB7A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48056"/>
            <a:ext cx="6172200" cy="1581912"/>
          </a:xfrm>
          <a:noFill/>
        </p:spPr>
        <p:txBody>
          <a:bodyPr anchor="b"/>
          <a:lstStyle/>
          <a:p>
            <a:r>
              <a:rPr lang="en-US" dirty="0"/>
              <a:t>ML models – </a:t>
            </a:r>
            <a:r>
              <a:rPr lang="en-US" sz="2400" dirty="0"/>
              <a:t>first solution</a:t>
            </a:r>
            <a:endParaRPr lang="en-US" dirty="0"/>
          </a:p>
        </p:txBody>
      </p:sp>
      <p:pic>
        <p:nvPicPr>
          <p:cNvPr id="15" name="Picture Placeholder 5" descr="A person looking at blueprints on a brick wall">
            <a:extLst>
              <a:ext uri="{FF2B5EF4-FFF2-40B4-BE49-F238E27FC236}">
                <a16:creationId xmlns:a16="http://schemas.microsoft.com/office/drawing/2014/main" id="{8F6DFF55-4FC0-E9BF-12FF-07D457E0A70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7157" r="27157"/>
          <a:stretch/>
        </p:blipFill>
        <p:spPr>
          <a:xfrm>
            <a:off x="7500938" y="-22225"/>
            <a:ext cx="4714875" cy="6880225"/>
          </a:xfr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09799935-3D5E-3630-945F-D5A4BDF42F35}"/>
              </a:ext>
            </a:extLst>
          </p:cNvPr>
          <p:cNvSpPr txBox="1">
            <a:spLocks/>
          </p:cNvSpPr>
          <p:nvPr/>
        </p:nvSpPr>
        <p:spPr>
          <a:xfrm>
            <a:off x="838201" y="2174033"/>
            <a:ext cx="6241650" cy="1922106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Linear regression solution</a:t>
            </a:r>
          </a:p>
          <a:p>
            <a:pPr lvl="1"/>
            <a:r>
              <a:rPr lang="en-US" sz="1800" dirty="0" err="1"/>
              <a:t>LogisticRegression</a:t>
            </a:r>
            <a:endParaRPr lang="en-US" sz="1800" dirty="0"/>
          </a:p>
          <a:p>
            <a:pPr lvl="1"/>
            <a:r>
              <a:rPr lang="en-US" sz="1800" dirty="0" err="1"/>
              <a:t>RandomForestClassifier</a:t>
            </a:r>
            <a:endParaRPr lang="en-US" sz="1800" dirty="0"/>
          </a:p>
          <a:p>
            <a:pPr lvl="1"/>
            <a:r>
              <a:rPr lang="en-US" sz="1800" dirty="0" err="1"/>
              <a:t>ExtraTreesClassifier</a:t>
            </a:r>
            <a:endParaRPr lang="en-US" sz="1800" dirty="0"/>
          </a:p>
          <a:p>
            <a:pPr lvl="1"/>
            <a:r>
              <a:rPr lang="en-US" sz="1800" dirty="0"/>
              <a:t>Voting Classifier</a:t>
            </a:r>
            <a:endParaRPr lang="en-US" sz="1200" dirty="0"/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8AE76D-4071-A82F-8068-D59BD6A2F0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0250" y="4240204"/>
            <a:ext cx="2657475" cy="108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7919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636E2-0FFB-26F5-5D84-A4E55E7125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DDF36-4B3A-0008-6C8D-52898528A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48056"/>
            <a:ext cx="6172200" cy="1581912"/>
          </a:xfrm>
          <a:noFill/>
        </p:spPr>
        <p:txBody>
          <a:bodyPr anchor="b"/>
          <a:lstStyle/>
          <a:p>
            <a:r>
              <a:rPr lang="en-US" dirty="0"/>
              <a:t>ML models – </a:t>
            </a:r>
            <a:r>
              <a:rPr lang="en-US" sz="2400" dirty="0"/>
              <a:t>Second solution</a:t>
            </a:r>
            <a:endParaRPr lang="en-US" dirty="0"/>
          </a:p>
        </p:txBody>
      </p:sp>
      <p:pic>
        <p:nvPicPr>
          <p:cNvPr id="15" name="Picture Placeholder 5" descr="A person looking at blueprints on a brick wall">
            <a:extLst>
              <a:ext uri="{FF2B5EF4-FFF2-40B4-BE49-F238E27FC236}">
                <a16:creationId xmlns:a16="http://schemas.microsoft.com/office/drawing/2014/main" id="{22E23F21-84B9-B61E-F220-7D9948F12F5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7157" r="27157"/>
          <a:stretch/>
        </p:blipFill>
        <p:spPr>
          <a:xfrm>
            <a:off x="7500938" y="-22225"/>
            <a:ext cx="4714875" cy="6880225"/>
          </a:xfr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1C44EDA-3A0A-11BD-A8CB-58DB85B634FD}"/>
              </a:ext>
            </a:extLst>
          </p:cNvPr>
          <p:cNvSpPr txBox="1">
            <a:spLocks/>
          </p:cNvSpPr>
          <p:nvPr/>
        </p:nvSpPr>
        <p:spPr>
          <a:xfrm>
            <a:off x="838201" y="2174033"/>
            <a:ext cx="6241650" cy="1922106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CNN model</a:t>
            </a:r>
          </a:p>
          <a:p>
            <a:pPr lvl="1"/>
            <a:r>
              <a:rPr lang="en-US" sz="1800" dirty="0"/>
              <a:t>Adam as optimizer</a:t>
            </a:r>
          </a:p>
          <a:p>
            <a:pPr lvl="1"/>
            <a:r>
              <a:rPr lang="en-US" sz="1800" dirty="0"/>
              <a:t>10 epochs</a:t>
            </a:r>
          </a:p>
          <a:p>
            <a:pPr lvl="1"/>
            <a:r>
              <a:rPr lang="en-US" sz="1800" dirty="0"/>
              <a:t>10% for validation split</a:t>
            </a: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E10D72-62E9-C99E-C67C-EF7E86C2E9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95594" y="3925879"/>
            <a:ext cx="2266950" cy="628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0282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1EDF8-21EC-2259-FEEF-DFF7132F5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8E631-D77E-69A9-1D88-DE65B0A92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48056"/>
            <a:ext cx="6172200" cy="848899"/>
          </a:xfrm>
          <a:noFill/>
        </p:spPr>
        <p:txBody>
          <a:bodyPr anchor="b"/>
          <a:lstStyle/>
          <a:p>
            <a:r>
              <a:rPr lang="en-US" dirty="0" err="1"/>
              <a:t>Streamlit</a:t>
            </a:r>
            <a:r>
              <a:rPr lang="en-US" dirty="0"/>
              <a:t> app 1</a:t>
            </a:r>
          </a:p>
        </p:txBody>
      </p:sp>
      <p:pic>
        <p:nvPicPr>
          <p:cNvPr id="15" name="Picture Placeholder 5" descr="A person looking at blueprints on a brick wall">
            <a:extLst>
              <a:ext uri="{FF2B5EF4-FFF2-40B4-BE49-F238E27FC236}">
                <a16:creationId xmlns:a16="http://schemas.microsoft.com/office/drawing/2014/main" id="{A1D6FA07-9B9D-1215-D6E9-2C1B93C0B27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7157" r="27157"/>
          <a:stretch/>
        </p:blipFill>
        <p:spPr>
          <a:xfrm>
            <a:off x="7500938" y="-22225"/>
            <a:ext cx="4714875" cy="6880225"/>
          </a:xfr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39F1A10-3C41-F1B0-A523-94F510147299}"/>
              </a:ext>
            </a:extLst>
          </p:cNvPr>
          <p:cNvSpPr txBox="1">
            <a:spLocks/>
          </p:cNvSpPr>
          <p:nvPr/>
        </p:nvSpPr>
        <p:spPr>
          <a:xfrm>
            <a:off x="838201" y="1455577"/>
            <a:ext cx="6241650" cy="1679510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Based on extra tree model</a:t>
            </a:r>
          </a:p>
          <a:p>
            <a:pPr lvl="1"/>
            <a:r>
              <a:rPr lang="en-US" sz="1800" dirty="0"/>
              <a:t>New separated model – only extra tree</a:t>
            </a:r>
          </a:p>
          <a:p>
            <a:pPr lvl="1"/>
            <a:r>
              <a:rPr lang="en-US" sz="1800" dirty="0"/>
              <a:t>With pre-processing and augmentation</a:t>
            </a:r>
          </a:p>
          <a:p>
            <a:pPr lvl="1"/>
            <a:r>
              <a:rPr lang="en-US" sz="1800" dirty="0"/>
              <a:t>Smaller model to meet </a:t>
            </a:r>
            <a:r>
              <a:rPr lang="en-US" sz="1800" dirty="0" err="1"/>
              <a:t>github</a:t>
            </a:r>
            <a:r>
              <a:rPr lang="en-US" sz="1800" dirty="0"/>
              <a:t> upload demands</a:t>
            </a:r>
          </a:p>
          <a:p>
            <a:pPr lvl="2"/>
            <a:r>
              <a:rPr lang="en-US" sz="1600" dirty="0"/>
              <a:t>-&gt; Less accuracy (92%)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AFF0DA-C51C-2083-22BB-0029DD85C0A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153" y="3135086"/>
            <a:ext cx="1434095" cy="314457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79C76C2-C31D-9186-0757-14867EF1DD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8888" y="3293709"/>
            <a:ext cx="5017688" cy="2785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4486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2A9F50-5781-EE0A-BA0F-F94DEA0EC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159CF-19C3-24E2-636C-DCE56AC24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448056"/>
            <a:ext cx="6172200" cy="848899"/>
          </a:xfrm>
          <a:noFill/>
        </p:spPr>
        <p:txBody>
          <a:bodyPr anchor="b"/>
          <a:lstStyle/>
          <a:p>
            <a:r>
              <a:rPr lang="en-US" dirty="0" err="1"/>
              <a:t>Streamlit</a:t>
            </a:r>
            <a:r>
              <a:rPr lang="en-US" dirty="0"/>
              <a:t> app 2</a:t>
            </a:r>
          </a:p>
        </p:txBody>
      </p:sp>
      <p:pic>
        <p:nvPicPr>
          <p:cNvPr id="15" name="Picture Placeholder 5" descr="A person looking at blueprints on a brick wall">
            <a:extLst>
              <a:ext uri="{FF2B5EF4-FFF2-40B4-BE49-F238E27FC236}">
                <a16:creationId xmlns:a16="http://schemas.microsoft.com/office/drawing/2014/main" id="{4501CE43-5F98-5B7E-72D3-D8D0AF0A585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7157" r="27157"/>
          <a:stretch/>
        </p:blipFill>
        <p:spPr>
          <a:xfrm>
            <a:off x="7500938" y="-22225"/>
            <a:ext cx="4714875" cy="6880225"/>
          </a:xfr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778DB6F-E710-9858-2B2F-17313214ED71}"/>
              </a:ext>
            </a:extLst>
          </p:cNvPr>
          <p:cNvSpPr txBox="1">
            <a:spLocks/>
          </p:cNvSpPr>
          <p:nvPr/>
        </p:nvSpPr>
        <p:spPr>
          <a:xfrm>
            <a:off x="838201" y="1455577"/>
            <a:ext cx="6241650" cy="1073019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Based on CNN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0B2D75-A93B-749B-950D-D52F2520981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274" y="1992086"/>
            <a:ext cx="3601634" cy="37852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8257028-3BB2-2129-0695-D4305564529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81991" y="1746561"/>
            <a:ext cx="3818947" cy="4030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0312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425" y="466344"/>
            <a:ext cx="6241651" cy="1710354"/>
          </a:xfrm>
          <a:noFill/>
        </p:spPr>
        <p:txBody>
          <a:bodyPr anchor="ctr"/>
          <a:lstStyle/>
          <a:p>
            <a:r>
              <a:rPr lang="en-US" dirty="0"/>
              <a:t>Conclusions</a:t>
            </a:r>
          </a:p>
        </p:txBody>
      </p:sp>
      <p:pic>
        <p:nvPicPr>
          <p:cNvPr id="20" name="Picture Placeholder 7" descr="A person talking to another person">
            <a:extLst>
              <a:ext uri="{FF2B5EF4-FFF2-40B4-BE49-F238E27FC236}">
                <a16:creationId xmlns:a16="http://schemas.microsoft.com/office/drawing/2014/main" id="{59669B42-CC26-1A2A-1FE7-526E425D019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10437" r="10437"/>
          <a:stretch/>
        </p:blipFill>
        <p:spPr>
          <a:xfrm>
            <a:off x="0" y="0"/>
            <a:ext cx="4287838" cy="6858000"/>
          </a:xfr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2426" y="2286000"/>
            <a:ext cx="6241650" cy="3474720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The CNN model does not require same amount of pre-processing to predict “hard numbers” as 6, 7, 8 and 9</a:t>
            </a:r>
          </a:p>
          <a:p>
            <a:pPr lvl="3"/>
            <a:r>
              <a:rPr lang="en-US" dirty="0"/>
              <a:t>CNN is better for images</a:t>
            </a:r>
          </a:p>
          <a:p>
            <a:pPr lvl="3"/>
            <a:r>
              <a:rPr lang="en-US" dirty="0"/>
              <a:t>CNN gives better accuracy</a:t>
            </a:r>
          </a:p>
          <a:p>
            <a:r>
              <a:rPr lang="en-US" dirty="0"/>
              <a:t>The linear regression model “extra tree require” depth to give high accuracy. Makes the .</a:t>
            </a:r>
            <a:r>
              <a:rPr lang="en-US" dirty="0" err="1"/>
              <a:t>pkl</a:t>
            </a:r>
            <a:r>
              <a:rPr lang="en-US" dirty="0"/>
              <a:t> file large </a:t>
            </a:r>
          </a:p>
        </p:txBody>
      </p:sp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Placeholder 11" descr="A close up of dots&#10;">
            <a:extLst>
              <a:ext uri="{FF2B5EF4-FFF2-40B4-BE49-F238E27FC236}">
                <a16:creationId xmlns:a16="http://schemas.microsoft.com/office/drawing/2014/main" id="{030E03B4-DAB0-F43D-4B1C-C54F75E621A1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4AB1CD4B-2C7F-1593-8E69-B7450F3DC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437" y="400485"/>
            <a:ext cx="9467127" cy="2527911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99C36C-7A46-4BED-2E5A-04EA8DA23F8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18447229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ech presentation">
      <a:dk1>
        <a:srgbClr val="000000"/>
      </a:dk1>
      <a:lt1>
        <a:srgbClr val="FFFFFF"/>
      </a:lt1>
      <a:dk2>
        <a:srgbClr val="435369"/>
      </a:dk2>
      <a:lt2>
        <a:srgbClr val="E8E8E8"/>
      </a:lt2>
      <a:accent1>
        <a:srgbClr val="A53F51"/>
      </a:accent1>
      <a:accent2>
        <a:srgbClr val="E89756"/>
      </a:accent2>
      <a:accent3>
        <a:srgbClr val="2F3342"/>
      </a:accent3>
      <a:accent4>
        <a:srgbClr val="2B2052"/>
      </a:accent4>
      <a:accent5>
        <a:srgbClr val="00023A"/>
      </a:accent5>
      <a:accent6>
        <a:srgbClr val="7E7E7E"/>
      </a:accent6>
      <a:hlink>
        <a:srgbClr val="467886"/>
      </a:hlink>
      <a:folHlink>
        <a:srgbClr val="96607D"/>
      </a:folHlink>
    </a:clrScheme>
    <a:fontScheme name="Custom 99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M55661986_wac_CP_V19" id="{030227AD-26D8-46F7-B412-6532AF4DDFEA}" vid="{787E6F9C-FC70-455D-8D81-5DEDA8A08F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5C2645A-E767-4D7E-984D-234E531E455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0F048343-1EA9-44C3-883E-652FAAF0713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F2A2379-DD35-4769-BFD6-4857D72F808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{017D2F38-10AF-434D-B7F5-055A26C990B3}tf55661986_win32</Template>
  <TotalTime>141</TotalTime>
  <Words>265</Words>
  <Application>Microsoft Office PowerPoint</Application>
  <PresentationFormat>Widescreen</PresentationFormat>
  <Paragraphs>67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Aptos</vt:lpstr>
      <vt:lpstr>Arial</vt:lpstr>
      <vt:lpstr>Calibri</vt:lpstr>
      <vt:lpstr>Calibri Light</vt:lpstr>
      <vt:lpstr>Wingdings</vt:lpstr>
      <vt:lpstr>Custom</vt:lpstr>
      <vt:lpstr>Machine learning on MNIST dataset</vt:lpstr>
      <vt:lpstr>AGENDA</vt:lpstr>
      <vt:lpstr>The goal</vt:lpstr>
      <vt:lpstr>mnist dataset</vt:lpstr>
      <vt:lpstr>EDA</vt:lpstr>
      <vt:lpstr>EDA – some findings</vt:lpstr>
      <vt:lpstr>EDA – some findings</vt:lpstr>
      <vt:lpstr>EDA – some findings</vt:lpstr>
      <vt:lpstr>ML models – first solution</vt:lpstr>
      <vt:lpstr>ML models – Second solution</vt:lpstr>
      <vt:lpstr>Streamlit app 1</vt:lpstr>
      <vt:lpstr>Streamlit app 2</vt:lpstr>
      <vt:lpstr>Conclusions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Johan Aldrin</dc:creator>
  <cp:lastModifiedBy>Johan Aldrin</cp:lastModifiedBy>
  <cp:revision>1</cp:revision>
  <dcterms:created xsi:type="dcterms:W3CDTF">2026-05-13T05:37:32Z</dcterms:created>
  <dcterms:modified xsi:type="dcterms:W3CDTF">2026-05-13T07:59:29Z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